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5C6B82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5C6B82"/>
                </a:solidFill>
                <a:latin typeface="Calibri" panose="020F0502020204030204"/>
              </a:rPr>
              <a:t>Распределение торговых записей по монетам</a:t>
            </a:r>
            <a:endParaRPr sz="1200" b="0" i="0" u="none" strike="noStrike">
              <a:solidFill>
                <a:srgbClr val="5C6B82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26406E"/>
              </a:solidFill>
              <a:effectLst/>
            </c:spPr>
          </c:dPt>
          <c:dPt>
            <c:idx val="2"/>
            <c:bubble3D val="0"/>
            <c:spPr>
              <a:solidFill>
                <a:srgbClr val="3E5C8A"/>
              </a:solidFill>
              <a:effectLst/>
            </c:spPr>
          </c:dPt>
          <c:dPt>
            <c:idx val="3"/>
            <c:bubble3D val="0"/>
            <c:spPr>
              <a:solidFill>
                <a:srgbClr val="6E8CBB"/>
              </a:solidFill>
              <a:effectLst/>
            </c:spPr>
          </c:dPt>
          <c:dPt>
            <c:idx val="4"/>
            <c:bubble3D val="0"/>
            <c:spPr>
              <a:solidFill>
                <a:srgbClr val="C9A227"/>
              </a:solidFill>
              <a:effectLst/>
            </c:spPr>
          </c:dPt>
          <c:dPt>
            <c:idx val="5"/>
            <c:bubble3D val="0"/>
            <c:spPr>
              <a:solidFill>
                <a:srgbClr val="B9C6DC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BTC</c:v>
                </c:pt>
                <c:pt idx="1">
                  <c:v>ETH</c:v>
                </c:pt>
                <c:pt idx="2">
                  <c:v>USDT</c:v>
                </c:pt>
                <c:pt idx="3">
                  <c:v>BNB</c:v>
                </c:pt>
                <c:pt idx="4">
                  <c:v>SOL</c:v>
                </c:pt>
                <c:pt idx="5">
                  <c:v>Прочие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13</c:v>
                </c:pt>
                <c:pt idx="4">
                  <c:v>12</c:v>
                </c:pt>
                <c:pt idx="5">
                  <c:v>18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rgbClr val="1B2335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9f54d11-6524-4627-ad04-bf93931a237c}"/>
      </c:ext>
    </c:extLst>
  </c:chart>
  <c:spPr>
    <a:noFill/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ru-RU" sz="1250" b="0" i="0" u="none" strike="noStrike" kern="1200" baseline="0">
                <a:solidFill>
                  <a:srgbClr val="1B2A4A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Calibri" panose="020F0502020204030204"/>
              </a:rPr>
              <a:t>Пример: распределение объёма торгов по монетам</a:t>
            </a:r>
            <a:endParaRPr sz="1250" b="0" i="0" u="none" strike="noStrike">
              <a:solidFill>
                <a:srgbClr val="1B2A4A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 торгов, усл. ед.</c:v>
                </c:pt>
              </c:strCache>
            </c:strRef>
          </c:tx>
          <c:spPr>
            <a:solidFill>
              <a:srgbClr val="1B2A4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000" b="0" i="0" u="none" strike="noStrike" kern="1200" baseline="0">
                    <a:solidFill>
                      <a:srgbClr val="1B2A4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BTC</c:v>
                </c:pt>
                <c:pt idx="1">
                  <c:v>ETH</c:v>
                </c:pt>
                <c:pt idx="2">
                  <c:v>USDT</c:v>
                </c:pt>
                <c:pt idx="3">
                  <c:v>BNB</c:v>
                </c:pt>
                <c:pt idx="4">
                  <c:v>SOL</c:v>
                </c:pt>
                <c:pt idx="5">
                  <c:v>XRP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318</c:v>
                </c:pt>
                <c:pt idx="1">
                  <c:v>264</c:v>
                </c:pt>
                <c:pt idx="2">
                  <c:v>201</c:v>
                </c:pt>
                <c:pt idx="3">
                  <c:v>158</c:v>
                </c:pt>
                <c:pt idx="4">
                  <c:v>142</c:v>
                </c:pt>
                <c:pt idx="5">
                  <c:v>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100" b="0" i="0" u="none" strike="noStrike" kern="1200" baseline="0">
                <a:solidFill>
                  <a:srgbClr val="5C6B82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6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rgbClr val="5C6B82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45af3ba-e5bd-41f3-96c8-5ed3183eb753}"/>
      </c:ext>
    </c:extLst>
  </c:chart>
  <c:spPr>
    <a:noFill/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6406E"/>
          </a:solidFill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4" name="Shape 2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5" name="Text 3"/>
          <p:cNvSpPr/>
          <p:nvPr/>
        </p:nvSpPr>
        <p:spPr>
          <a:xfrm>
            <a:off x="640080" y="1325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КУРСОВОЙ ПРОЕКТ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3327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Программный комплекс</a:t>
            </a:r>
            <a:endParaRPr lang="en-US" sz="4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анализа рынка криптовалют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Настольное приложение с системой учётных записей, интеграцией внешнего API, аналитическими отчётами и клиент-серверным модулем распространения новостей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40233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9204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Авторский коллектив
</a:t>
            </a:r>
            <a:r>
              <a:rPr lang="en-US" sz="130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Прохачёв Н. А.   ·   Фахрутдинов А.   ·   Хотнянский К.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Группа БИВ253
</a:t>
            </a:r>
            <a:r>
              <a:rPr lang="en-US" sz="130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НИУ ВШЭ · МИЭМ · Москва,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ПОСТАНОВКА ЗАДАЧИ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Цель и задачи проекта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800600" cy="4114800"/>
          </a:xfrm>
          <a:prstGeom prst="roundRect">
            <a:avLst>
              <a:gd name="adj" fmla="val 2222"/>
            </a:avLst>
          </a:prstGeom>
          <a:solidFill>
            <a:srgbClr val="1B2A4A"/>
          </a:solidFill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48840"/>
            <a:ext cx="777240" cy="77724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64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0632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Цель работы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3520440"/>
            <a:ext cx="402336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Разработать целостный программный комплекс для сбора, хранения и аналитической обработки данных о рынке криптовалют, обеспечивающий работу как в режиме реального времени, так и автономно.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897880" y="1737360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99048" y="1920240"/>
            <a:ext cx="566928" cy="566928"/>
          </a:xfrm>
          <a:prstGeom prst="ellipse">
            <a:avLst/>
          </a:prstGeom>
          <a:solidFill>
            <a:srgbClr val="26406E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49" y="20676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1737360"/>
            <a:ext cx="45720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Спроектировать базу данных в третьей нормальной форме и реализовать её денормализацию для анализа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97880" y="2788920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99048" y="2971800"/>
            <a:ext cx="566928" cy="566928"/>
          </a:xfrm>
          <a:prstGeom prst="ellipse">
            <a:avLst/>
          </a:prstGeom>
          <a:solidFill>
            <a:srgbClr val="26406E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449" y="311920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2788920"/>
            <a:ext cx="45720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Обеспечить интеграцию с внешним источником рыночных данных через программный интерфейс (API)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897880" y="3840480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99048" y="4023360"/>
            <a:ext cx="566928" cy="566928"/>
          </a:xfrm>
          <a:prstGeom prst="ellipse">
            <a:avLst/>
          </a:prstGeom>
          <a:solidFill>
            <a:srgbClr val="26406E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449" y="417076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3840480"/>
            <a:ext cx="45720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Реализовать систему учётных записей с защищённым хранением паролей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897880" y="4892040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099048" y="5074920"/>
            <a:ext cx="566928" cy="566928"/>
          </a:xfrm>
          <a:prstGeom prst="ellipse">
            <a:avLst/>
          </a:prstGeom>
          <a:solidFill>
            <a:srgbClr val="26406E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449" y="5222321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12280" y="4892040"/>
            <a:ext cx="45720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Сформировать комплект аналитических отчётов и средств визуализации данных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ПРОЕКТНОЕ РЕШЕНИЕ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Многоуровневая архитектура комплекса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Каждый уровень решает обособленную задачу; уровень представления не выполняет вычислений, а обращается к функциям нижележащих модулей. Это упрощает сопровождение и автономное тестирование.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3210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55164"/>
            <a:ext cx="548640" cy="54864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597810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39572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Уровень представления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27632" y="2743200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main.py — графический интерфейс на Tkinter: авторизация, личный кабинет, вкладки, темы оформления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82696"/>
            <a:ext cx="83210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451860"/>
            <a:ext cx="548640" cy="548640"/>
          </a:xfrm>
          <a:prstGeom prst="ellipse">
            <a:avLst/>
          </a:prstGeom>
          <a:solidFill>
            <a:srgbClr val="3E5C8A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35945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27632" y="3392424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Уровень сервисов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27632" y="3739896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auth.py · api_client.py · news_store.py — учётные записи, внешний API, работа с новостями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279392"/>
            <a:ext cx="83210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448556"/>
            <a:ext cx="548640" cy="548640"/>
          </a:xfrm>
          <a:prstGeom prst="ellipse">
            <a:avLst/>
          </a:prstGeom>
          <a:solidFill>
            <a:srgbClr val="26406E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4591202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38912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Уровень бизнес-логики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27632" y="4736592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text_reports.py · graphic_reports.py — формирование аналитических отчётов и диаграмм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5276088"/>
            <a:ext cx="832104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5445252"/>
            <a:ext cx="548640" cy="54864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558789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5385816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Уровень данных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27632" y="5733288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data_loader.py — загрузка справочников из Excel и построение денормализованной таблицы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189720" y="2286000"/>
            <a:ext cx="2331720" cy="3904488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189720" y="24871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ПОТОК ДАННЫХ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372600" y="28803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Excel-база (3НФ)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Денормализация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Отчёты и диаграммы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Интерфейс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ХРАНЕНИЕ ДАННЫХ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Модель данных: нормализация и денормализация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нормализованных таблиц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9856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9856" y="192024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1 260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57016" y="26974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торговых записей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192024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36792" y="26974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криптовалют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79408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79408" y="192024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16568" y="26974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полей в сводной таблице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Принцип организации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55778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Справочники категорий, криптовалют, бирж, торговых пар и сделок хранятся раздельно (3НФ), что исключает избыточность и аномалии данных.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Для анализа таблицы объединяются операцией соединения (merge) в единую денормализованную выборку.</a:t>
            </a:r>
            <a:endParaRPr lang="en-US" sz="13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Данные внешнего API записываются в обособленные листы, не затрагивая исходную структуру базы.</a:t>
            </a:r>
            <a:endParaRPr lang="en-US" sz="13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766560" y="3611880"/>
          <a:ext cx="4754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АНАЛИТИКА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Комплект аналитических отчётов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Текстовые отчёты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2321113"/>
            <a:ext cx="149230" cy="1492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1945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Выборка сделок с фильтрацией по параметрам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310896" cy="310896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2888041"/>
            <a:ext cx="149230" cy="1492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76148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Частотный анализ качественных признаков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374136"/>
            <a:ext cx="310896" cy="310896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3454969"/>
            <a:ext cx="149230" cy="1492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32841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Описательные статистики количественных величин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3941064"/>
            <a:ext cx="310896" cy="310896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4021897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89534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Сводная таблица с промежуточными итогами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45537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Графические отчёты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96265" y="4921885"/>
            <a:ext cx="4215130" cy="1233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Столбчатая · гистограмма · </a:t>
            </a:r>
            <a:r>
              <a:rPr lang="ru-RU" alt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boxplot</a:t>
            </a:r>
            <a:r>
              <a:rPr 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диаграмма рассеяния · круговая</a:t>
            </a:r>
            <a:r>
              <a:rPr 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· </a:t>
            </a:r>
            <a:r>
              <a:rPr lang="ru-RU" altLang="en-US" sz="12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линейная</a:t>
            </a:r>
            <a:endParaRPr lang="ru-RU" altLang="en-US" sz="1250" dirty="0">
              <a:solidFill>
                <a:srgbClr val="5C6B8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126480" y="1783080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graphicFrame>
        <p:nvGraphicFramePr>
          <p:cNvPr id="20" name="Chart 0"/>
          <p:cNvGraphicFramePr/>
          <p:nvPr/>
        </p:nvGraphicFramePr>
        <p:xfrm>
          <a:off x="6355080" y="2011680"/>
          <a:ext cx="4937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Text 14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ВНЕШНИЕ ДАННЫЕ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Интеграция с внешним API и отказоустойчивость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Приложение получает рыночные данные через бесплатный программный интерфейс CoinGecko средствами стандартной библиотеки. Реализована трёхуровневая схема получения данных, гарантирующая работоспособность при отсутствии сети.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3956" y="2743200"/>
            <a:ext cx="868680" cy="86868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813" y="296905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606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E3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29077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Запрос к API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4206240"/>
            <a:ext cx="28163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Получение актуальных курсов и капитализации в реальном времени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07408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01284" y="2743200"/>
            <a:ext cx="868680" cy="868680"/>
          </a:xfrm>
          <a:prstGeom prst="ellipse">
            <a:avLst/>
          </a:prstGeom>
          <a:solidFill>
            <a:srgbClr val="3E5C8A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141" y="296905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606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E3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681728" y="3749040"/>
            <a:ext cx="29077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Кеш в Excel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27448" y="4206240"/>
            <a:ext cx="28163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При недоступности сети используются ранее сохранённые данные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74736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68612" y="2743200"/>
            <a:ext cx="868680" cy="868680"/>
          </a:xfrm>
          <a:prstGeom prst="ellipse">
            <a:avLst/>
          </a:prstGeom>
          <a:solidFill>
            <a:srgbClr val="26406E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469" y="2969057"/>
            <a:ext cx="416966" cy="41696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3336" y="2606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E3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449056" y="3749040"/>
            <a:ext cx="29077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Локальная база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94776" y="4206240"/>
            <a:ext cx="28163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Полная автономная работа на исходной нормализованной базе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114800" y="3703320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7882128" y="3703320"/>
            <a:ext cx="3108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E5C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Источник данных в каждом сеансе фиксируется и отображается пользователю: «реальное время», «кеш» либо «локальная база».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РАСПРОСТРАНЕНИЕ НОВОСТЕЙ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Клиент-серверный модуль новостей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24304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Сервер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20240" y="265176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HTTP-сервер на стандартной библиотеке. Хранит общую ленту новостей и отдаёт её всем клиентам по запросу.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4434840"/>
            <a:ext cx="731520" cy="731520"/>
          </a:xfrm>
          <a:prstGeom prst="ellipse">
            <a:avLst/>
          </a:prstGeom>
          <a:solidFill>
            <a:srgbClr val="3E5C8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35" y="46250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4389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Клиент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920240" y="484632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Ведёт локальную ленту, публикует записи на сервер и синхронизирует их с объединением и устранением дубликатов.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55080" y="182880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0F1E38"/>
          </a:solidFill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675120" y="2103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ПРОТОКОЛ ВЗАИМОДЕЙСТВИЯ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675120" y="256032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FE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/news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9FB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получение полной ленты новостей в формате JSON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FE0F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/news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9FB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добавление новой записи на сервер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Автономный режим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при отсутствии сервера лента ведётся локально без потери данных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ИНФОРМАЦИОННАЯ БЕЗОПАСНОСТЬ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Защита учётных данных пользователей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21992"/>
            <a:ext cx="713232" cy="713232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560" y="240743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67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Хеширование паролей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660904"/>
            <a:ext cx="38862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Пароли не хранятся в открытом виде: сохраняется только криптографический хеш SHA-256.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81928" y="18745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221992"/>
            <a:ext cx="713232" cy="713232"/>
          </a:xfrm>
          <a:prstGeom prst="ellipse">
            <a:avLst/>
          </a:prstGeom>
          <a:solidFill>
            <a:srgbClr val="26406E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08" y="2407432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368" y="2167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Индивидуальная соль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16368" y="2660904"/>
            <a:ext cx="38862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 каждому паролю добавляется уникальная случайная соль, что исключает совпадение хешей.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398264"/>
            <a:ext cx="713232" cy="713232"/>
          </a:xfrm>
          <a:prstGeom prst="ellipse">
            <a:avLst/>
          </a:prstGeom>
          <a:solidFill>
            <a:srgbClr val="3E5C8A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60" y="458370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3434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Разграничение прав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837176"/>
            <a:ext cx="38862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Поле верификации (KYC) и реквизиты учётной записи защищены от изменения пользователем.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81928" y="4050792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4398264"/>
            <a:ext cx="713232" cy="713232"/>
          </a:xfrm>
          <a:prstGeom prst="ellipse">
            <a:avLst/>
          </a:prstGeom>
          <a:solidFill>
            <a:srgbClr val="A8861A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458370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368" y="43434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Сессии и автономность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16368" y="4837176"/>
            <a:ext cx="38862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Состояние сеанса кешируется локально; все данные хранятся на стороне пользователя.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ТЕХНОЛОГИИ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Технологический стек и соответствие требованиям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713232" cy="713232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280" y="233428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4028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Применённые технологии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063240"/>
            <a:ext cx="461772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— язык реализации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Tkinter — графический интерфейс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pandas, openpyxl — обработка данных и Excel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 — построение диаграмм</a:t>
            </a:r>
            <a:endParaRPr lang="en-US" sz="135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urllib, http.server, hashlib, pickle — стандартная библиотека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1B2A4A"/>
          </a:solidFill>
          <a:effectLst>
            <a:outerShdw blurRad="114300" dist="38100" dir="5400000" algn="bl" rotWithShape="0">
              <a:srgbClr val="1B233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48840"/>
            <a:ext cx="713232" cy="713232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560" y="233428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24028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Соответствие требованиям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3108960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Использованы только разрешённые библиотеки — все дополнительные функции реализованы средствами стандартной библиотеки Python.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База данных спроектирована в третьей нормальной форме (3НФ).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Реализованы семь аналитических отчётов согласно техническому заданию.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Исходный код документирован комментариями в формате Doxygen.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840480" cy="3840480"/>
          </a:xfrm>
          <a:prstGeom prst="ellipse">
            <a:avLst/>
          </a:prstGeom>
          <a:solidFill>
            <a:srgbClr val="26406E"/>
          </a:solidFill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ЗАКЛЮЧЕНИЕ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Поставленные задачи выполнены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в полном объёме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</p:spPr>
      </p:sp>
      <p:sp>
        <p:nvSpPr>
          <p:cNvPr id="7" name="Text 5"/>
          <p:cNvSpPr/>
          <p:nvPr/>
        </p:nvSpPr>
        <p:spPr>
          <a:xfrm>
            <a:off x="640080" y="338328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программных модулей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9856" y="32461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</p:spPr>
      </p:sp>
      <p:sp>
        <p:nvSpPr>
          <p:cNvPr id="10" name="Text 8"/>
          <p:cNvSpPr/>
          <p:nvPr/>
        </p:nvSpPr>
        <p:spPr>
          <a:xfrm>
            <a:off x="3419856" y="338328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57016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аналитических отчётов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32461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</p:spPr>
      </p:sp>
      <p:sp>
        <p:nvSpPr>
          <p:cNvPr id="13" name="Text 11"/>
          <p:cNvSpPr/>
          <p:nvPr/>
        </p:nvSpPr>
        <p:spPr>
          <a:xfrm>
            <a:off x="6199632" y="338328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36792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уровня отказоустойчивости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79408" y="32461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</p:spPr>
      </p:sp>
      <p:sp>
        <p:nvSpPr>
          <p:cNvPr id="16" name="Text 14"/>
          <p:cNvSpPr/>
          <p:nvPr/>
        </p:nvSpPr>
        <p:spPr>
          <a:xfrm>
            <a:off x="8979408" y="3383280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100 %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16568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автономная работоспособность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Разработанный программный комплекс представляет собой завершённое, документированное и расширяемое решение, пригодное к практическому применению и дальнейшему развитию.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E5C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Группа БИВ253  ·  НИУ ВШЭ · МИЭМ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5007</Words>
  <Application>WPS Presentation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Программный комплекс анализа рынка криптовалют</dc:title>
  <dc:creator>Группа БИВ253</dc:creator>
  <dc:subject>PptxGenJS Presentation</dc:subject>
  <cp:lastModifiedBy>Амир Фахрутдинов</cp:lastModifiedBy>
  <cp:revision>3</cp:revision>
  <dcterms:created xsi:type="dcterms:W3CDTF">2026-06-10T09:45:00Z</dcterms:created>
  <dcterms:modified xsi:type="dcterms:W3CDTF">2026-06-13T23:50:21Z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BF8A0E8EB2F14C39A2EA69E366688DCA_13</vt:lpwstr>
  </property>
</Properties>
</file>